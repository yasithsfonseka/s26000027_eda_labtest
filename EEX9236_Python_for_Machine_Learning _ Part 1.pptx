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notesMasterIdLst>
    <p:notesMasterId r:id="rId2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33" autoAdjust="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5B3D5-3190-49EF-A941-720C6E26D232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CAAAC-9A07-4D14-9387-1903B621E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students. Briefly introduce yourself and explain how this course fits into their programme and future careers.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Motivate students here. </a:t>
            </a:r>
            <a:r>
              <a:rPr dirty="0" err="1"/>
              <a:t>Emphasise</a:t>
            </a:r>
            <a:r>
              <a:rPr dirty="0"/>
              <a:t> that Python is not just an academic language. It is widely used in industry, research, startups, and big tech. Reassure beginners that the course starts from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outcomes focus on both programming foundations and practical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expectations: self-study + guided sessions + hands-on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Clearly communicate that labs are mandatory. Each lab builds on the previous one. Encourage students to practice weekly, not just before lab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assessment carefully. Students are often anxious about marks—clarity helps reduce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all official communication will be via OULMS.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expectations early. Explain responsible use of AI tools and the importance of learning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on an encouraging note. Invite questions and reduce fear around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Reassure students. Tell them it is normal to make mistakes. Explain that they should follow along rather than copy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after each step. Ask students to confirm output. Explain what print() does in simple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variables as containers. Show simple examples like name, age,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installation should be completed before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ticking 'Add to PATH'. Show screenshot during lecture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most macOS/Linux systems already have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simple. Tell students they can move to advanced tools gradually.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it clear this is not an ML-heavy course yet. But everything learned here is essential for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big-picture view. Motivate students who are interested in AI/ML careers.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with motivation and confidence-building.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E4DCC-84C6-42B1-A602-BF70D29B5034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8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B9F9-F4E0-45A4-A441-35ED8C6558C1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7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208DCDC-C08F-47A1-922B-288A75851547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EBF3-478D-4932-882A-80BCF16BC0A6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7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770E-BC15-48D3-91ED-A30C1540CADB}" type="datetime1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0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972C1-DB25-4AF8-BEAF-3245E05FF487}" type="datetime1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27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8A27-280C-4B24-8A0D-11563852256E}" type="datetime1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3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5E02C-0FFE-48D4-8BDB-B3E002B95F93}" type="datetime1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9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C856-AEF1-4F28-A82B-2F4CC6671A61}" type="datetime1">
              <a:rPr lang="en-US" smtClean="0"/>
              <a:t>1/31/2026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2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0B960-A2CD-4F26-AA30-E63579632F7C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0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D8D2A-AAFF-47FF-9AC2-6E6EDCAEC65E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3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65B0034-29C9-4A87-BEED-8253AEAE2B3C}" type="datetime1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1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gsnadeerameedin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2194559"/>
            <a:ext cx="10754360" cy="1234441"/>
          </a:xfrm>
        </p:spPr>
        <p:txBody>
          <a:bodyPr/>
          <a:lstStyle/>
          <a:p>
            <a:r>
              <a:rPr sz="4800" dirty="0"/>
              <a:t>EEX9236 – Python for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Department of Electrical &amp; Computer Engineering</a:t>
            </a:r>
          </a:p>
          <a:p>
            <a:r>
              <a:rPr dirty="0"/>
              <a:t>The Open University of Sri Lanka</a:t>
            </a:r>
          </a:p>
          <a:p>
            <a:r>
              <a:rPr dirty="0"/>
              <a:t>Academic Year 202</a:t>
            </a:r>
            <a:r>
              <a:rPr lang="en-US" dirty="0"/>
              <a:t>6</a:t>
            </a:r>
            <a:r>
              <a:rPr dirty="0"/>
              <a:t>/2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8DDEA-365A-1F85-8212-46D98966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00742-315D-A20C-F4DA-AB54724D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32FF-0DD1-BEF0-680A-92F19BC4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9840A-03AF-49AC-A45B-4BD70380B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Name</a:t>
            </a:r>
          </a:p>
          <a:p>
            <a:r>
              <a:rPr lang="en-US" dirty="0"/>
              <a:t> Educational / Academic Background</a:t>
            </a:r>
          </a:p>
          <a:p>
            <a:r>
              <a:rPr lang="en-US" dirty="0"/>
              <a:t> Familiarity with Programming Languages</a:t>
            </a:r>
          </a:p>
          <a:p>
            <a:r>
              <a:rPr lang="en-US" dirty="0"/>
              <a:t> Familiarity with Python (Rate from 1–4)</a:t>
            </a:r>
          </a:p>
          <a:p>
            <a:pPr marL="0" indent="0">
              <a:buNone/>
            </a:pPr>
            <a:r>
              <a:rPr lang="en-US" dirty="0"/>
              <a:t>   (1 = No experience, 4 = Very confident)</a:t>
            </a:r>
          </a:p>
          <a:p>
            <a:r>
              <a:rPr lang="en-US" dirty="0"/>
              <a:t> Are you joining the ILS through a laptop?</a:t>
            </a:r>
          </a:p>
          <a:p>
            <a:r>
              <a:rPr lang="en-US" dirty="0"/>
              <a:t>Do you have Python installed in your computer?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39B39-8A85-41EE-A4FF-E2F62093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B8218-732C-D2F5-F26D-8F3E5AB5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58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Course Coordinator: Dr. (Mrs.) G. S. N. Meedin</a:t>
            </a:r>
          </a:p>
          <a:p>
            <a:r>
              <a:rPr sz="2400" dirty="0"/>
              <a:t>Email: </a:t>
            </a:r>
            <a:r>
              <a:rPr sz="2400" dirty="0">
                <a:hlinkClick r:id="rId3"/>
              </a:rPr>
              <a:t>gsnad</a:t>
            </a:r>
            <a:r>
              <a:rPr lang="en-US" sz="2400" dirty="0">
                <a:hlinkClick r:id="rId3"/>
              </a:rPr>
              <a:t>eerameedin</a:t>
            </a:r>
            <a:r>
              <a:rPr sz="2400" dirty="0">
                <a:hlinkClick r:id="rId3"/>
              </a:rPr>
              <a:t>@</a:t>
            </a:r>
            <a:r>
              <a:rPr lang="en-US" sz="2400" dirty="0">
                <a:hlinkClick r:id="rId3"/>
              </a:rPr>
              <a:t>gmail.com</a:t>
            </a:r>
            <a:endParaRPr lang="en-US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12-session course with labs and continuous assessment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CD277-B7DE-8F7A-938F-3550B965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FD13D-3CB5-9E6B-C79C-A6EA9BD1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Python for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Simple, readable syntax – ideal for beginners</a:t>
            </a:r>
          </a:p>
          <a:p>
            <a:r>
              <a:rPr sz="2400" dirty="0"/>
              <a:t>Rich ecosystem: NumPy, Pandas, Scikit-learn, TensorFlow</a:t>
            </a:r>
          </a:p>
          <a:p>
            <a:r>
              <a:rPr sz="2400" dirty="0"/>
              <a:t>Industry and research standard for ML &amp; data science</a:t>
            </a:r>
          </a:p>
          <a:p>
            <a:r>
              <a:rPr sz="2400" dirty="0"/>
              <a:t>Strong community and learning 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9CD0A-9F45-869B-4AD1-10130350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45048-B409-4262-139D-7F9C1233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Understand core Python programming concepts</a:t>
            </a:r>
          </a:p>
          <a:p>
            <a:r>
              <a:rPr sz="2400" dirty="0"/>
              <a:t>Apply object-oriented programming principles</a:t>
            </a:r>
          </a:p>
          <a:p>
            <a:r>
              <a:rPr sz="2400" dirty="0"/>
              <a:t>Work with files, exceptions, and databases</a:t>
            </a:r>
          </a:p>
          <a:p>
            <a:r>
              <a:rPr sz="2400" dirty="0"/>
              <a:t>Use Python libraries to solve real-world problems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65D4A-0C6C-7532-6D48-426D788E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4996B-FF31-A82B-49B6-7A6B676B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structured study sessions</a:t>
            </a:r>
          </a:p>
          <a:p>
            <a:r>
              <a:t>Online materials via OULMS</a:t>
            </a:r>
          </a:p>
          <a:p>
            <a:r>
              <a:t>3 Online Interactive Sessions / Day Schools</a:t>
            </a:r>
          </a:p>
          <a:p>
            <a:r>
              <a:t>4 mandatory lab sessions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B3AD8-1318-912B-0E81-D61B25EC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98382-8B2D-1276-A5DF-23AF149B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 1: Python basics, variables, control structures</a:t>
            </a:r>
          </a:p>
          <a:p>
            <a:r>
              <a:t>Lab 2: Functions, data structures, and OOP</a:t>
            </a:r>
          </a:p>
          <a:p>
            <a:r>
              <a:t>Lab 3: File handling, exceptions, libraries</a:t>
            </a:r>
          </a:p>
          <a:p>
            <a:r>
              <a:t>Lab 4: Applied Python for data handling</a:t>
            </a:r>
          </a:p>
          <a:p>
            <a:r>
              <a:t>Final Lab Assessment: 2-hour evaluation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CD28D-0A60-5608-73E8-ED55D681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E6B63-08F9-C5CD-492A-6C77E6F9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Continuous Assessment (X): CAT</a:t>
            </a:r>
            <a:r>
              <a:rPr lang="en-US" dirty="0"/>
              <a:t> x 0.4</a:t>
            </a:r>
            <a:r>
              <a:rPr dirty="0"/>
              <a:t> + Lab Tests</a:t>
            </a:r>
            <a:r>
              <a:rPr lang="en-US" dirty="0"/>
              <a:t> x 0.6</a:t>
            </a:r>
            <a:endParaRPr dirty="0"/>
          </a:p>
          <a:p>
            <a:r>
              <a:rPr dirty="0"/>
              <a:t>Final Written Examination (Y)</a:t>
            </a:r>
          </a:p>
          <a:p>
            <a:r>
              <a:rPr dirty="0"/>
              <a:t>Overall Mark Z = 0.5X + 0.5Y</a:t>
            </a:r>
          </a:p>
          <a:p>
            <a:r>
              <a:rPr dirty="0"/>
              <a:t>Pass: X ≥ 50 and Z ≥ 50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843B8-5979-46F1-8129-DF9D2301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E7324-BC7C-2911-38A5-A0AE5AD2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Learning Management System (OULMS)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materials and announcements via OULMS</a:t>
            </a:r>
          </a:p>
          <a:p>
            <a:r>
              <a:t>https://oulms.ou.ac.lk/</a:t>
            </a:r>
          </a:p>
          <a:p>
            <a:r>
              <a:t>Username: Student ID (SID)</a:t>
            </a:r>
          </a:p>
          <a:p>
            <a:r>
              <a:t>Password: U + NIC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47433-8025-A3A9-778E-F7ADD371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62587-C18B-EE79-E4A7-B88392F8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Rules, Ethics &amp; AI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participation is expected</a:t>
            </a:r>
          </a:p>
          <a:p>
            <a:r>
              <a:t>Plagiarism and misconduct are strictly prohibited</a:t>
            </a:r>
          </a:p>
          <a:p>
            <a:r>
              <a:t>AI tools may be used cautiously with verification</a:t>
            </a:r>
          </a:p>
          <a:p>
            <a:r>
              <a:t>Late submissions incur penalties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5973D-584C-AAA2-F8A0-408707EE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0CAAB-320B-0F21-D900-63B6F4D7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Python before Session 1</a:t>
            </a:r>
          </a:p>
          <a:p>
            <a:r>
              <a:t>Check OULMS regularly</a:t>
            </a:r>
          </a:p>
          <a:p>
            <a:r>
              <a:t>Practice coding weekly</a:t>
            </a:r>
          </a:p>
          <a:p>
            <a:r>
              <a:t>Ask questions – learning is a process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C0DD9-E481-4A09-4050-D7A84EA2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4061B-CF16-3D98-D170-88A90476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Live Coding Session – 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live coding?</a:t>
            </a:r>
          </a:p>
          <a:p>
            <a:r>
              <a:t>We write and run code together</a:t>
            </a:r>
          </a:p>
          <a:p>
            <a:r>
              <a:t>Mistakes are part of learning</a:t>
            </a:r>
          </a:p>
          <a:p>
            <a:r>
              <a:t>Focus on understanding, not speed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1951E-1777-F82F-1AE2-DA6F7B7B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19259-F8ED-BC2F-11B8-09C46959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Live Coding Demo 1 – Your First Python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Python / IDLE / VS Code</a:t>
            </a:r>
          </a:p>
          <a:p>
            <a:r>
              <a:t>Type: print('Hello, Python!')</a:t>
            </a:r>
          </a:p>
          <a:p>
            <a:r>
              <a:t>Run the program</a:t>
            </a:r>
          </a:p>
          <a:p>
            <a:r>
              <a:t>Modify the message and re-run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60F47-C10C-3642-3881-34BA0192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5B5DA-C2D8-138F-3F53-FC1D64D55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Live Coding Demo 2 – Variables &amp;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values to variables</a:t>
            </a:r>
          </a:p>
          <a:p>
            <a:r>
              <a:t>Use input() to read user data</a:t>
            </a:r>
          </a:p>
          <a:p>
            <a:r>
              <a:t>Display results using print()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B9F91-668C-AF02-E543-AD414790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13EA0-FE61-88B7-7BD0-0F737842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Installation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is free and open source</a:t>
            </a:r>
          </a:p>
          <a:p>
            <a:r>
              <a:t>Required before attending labs</a:t>
            </a:r>
          </a:p>
          <a:p>
            <a:r>
              <a:t>We will use Python 3.x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3D042-D38E-35E6-0BA6-73E7B26D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4E59E-1C1A-80EC-8F41-6E60EB0F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Python –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from https://www.python.org</a:t>
            </a:r>
          </a:p>
          <a:p>
            <a:r>
              <a:t>Select Python 3.x version</a:t>
            </a:r>
          </a:p>
          <a:p>
            <a:r>
              <a:t>Tick 'Add Python to PATH'</a:t>
            </a:r>
          </a:p>
          <a:p>
            <a:r>
              <a:t>Click Install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7A7F5-C67E-F955-83B9-2A5B4268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E276C-03F5-1E90-197C-7027D758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Python – macOS /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macOS: Download from python.org or use Homebrew</a:t>
            </a:r>
          </a:p>
          <a:p>
            <a:r>
              <a:t>Linux: Use system package manager</a:t>
            </a:r>
          </a:p>
          <a:p>
            <a:r>
              <a:t>Verify installation using python --version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95389-EDF7-9C90-7AE5-F2C4A2DDB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CEAF9-2DB7-C5EA-E60A-30026F34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IDLE – comes with Python (beginners)</a:t>
            </a:r>
          </a:p>
          <a:p>
            <a:r>
              <a:rPr dirty="0"/>
              <a:t>VS Code – recommended editor</a:t>
            </a:r>
          </a:p>
          <a:p>
            <a:r>
              <a:rPr dirty="0" err="1"/>
              <a:t>Jupyter</a:t>
            </a:r>
            <a:r>
              <a:rPr dirty="0"/>
              <a:t> Notebook – later for data science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A69EB-43EE-9ECE-2F74-04FCBCF5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DEA2D-E428-CDCC-2B1F-3A4FD041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Does Machine Learning Fit?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course builds the foundation</a:t>
            </a:r>
          </a:p>
          <a:p>
            <a:r>
              <a:t>ML needs strong programming skills</a:t>
            </a:r>
          </a:p>
          <a:p>
            <a:r>
              <a:t>Python is the backbone of ML workflows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134BA-DAA1-3F2C-E178-095B12CA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17E39-A2FE-2658-9F6C-FEF7C470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Python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handling with Pandas &amp; NumPy</a:t>
            </a:r>
          </a:p>
          <a:p>
            <a:r>
              <a:t>Visualisation with Matplotlib</a:t>
            </a:r>
          </a:p>
          <a:p>
            <a:r>
              <a:t>ML models using Scikit-learn</a:t>
            </a:r>
          </a:p>
          <a:p>
            <a:r>
              <a:t>Deep learning with TensorFlow / PyTorch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E0F08-3E4B-8554-5125-BB219907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E7264-DDD4-1675-FAEC-5CC192AAF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Learning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Learn Python basics</a:t>
            </a:r>
          </a:p>
          <a:p>
            <a:r>
              <a:t>Step 2: Practice problem solving</a:t>
            </a:r>
          </a:p>
          <a:p>
            <a:r>
              <a:t>Step 3: Handle data</a:t>
            </a:r>
          </a:p>
          <a:p>
            <a:r>
              <a:t>Step 4: Move into ML &amp; 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7C1DB-A2BD-5948-9ACA-FC00D3C4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014B0-6BAE-18B2-A758-F3886174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128</TotalTime>
  <Words>949</Words>
  <Application>Microsoft Office PowerPoint</Application>
  <PresentationFormat>Widescreen</PresentationFormat>
  <Paragraphs>144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Rockwell</vt:lpstr>
      <vt:lpstr>Rockwell Condensed</vt:lpstr>
      <vt:lpstr>Wingdings</vt:lpstr>
      <vt:lpstr>Wood Type</vt:lpstr>
      <vt:lpstr>EEX9236 – Python for Machine Learning</vt:lpstr>
      <vt:lpstr>Introduce yourself</vt:lpstr>
      <vt:lpstr>Course Overview</vt:lpstr>
      <vt:lpstr>Why Python for Machine Learning?</vt:lpstr>
      <vt:lpstr>Learning Outcomes</vt:lpstr>
      <vt:lpstr>Course Structure</vt:lpstr>
      <vt:lpstr>Lab Roadmap</vt:lpstr>
      <vt:lpstr>Assessment Strategy</vt:lpstr>
      <vt:lpstr>Learning Management System (OULMS)</vt:lpstr>
      <vt:lpstr>Rules, Ethics &amp; AI Usage</vt:lpstr>
      <vt:lpstr>Getting Started</vt:lpstr>
      <vt:lpstr>Live Coding Session – Getting Started</vt:lpstr>
      <vt:lpstr>Live Coding Demo 1 – Your First Python Program</vt:lpstr>
      <vt:lpstr>Live Coding Demo 2 – Variables &amp; Input</vt:lpstr>
      <vt:lpstr>Python Installation – Overview</vt:lpstr>
      <vt:lpstr>Installing Python – Windows</vt:lpstr>
      <vt:lpstr>Installing Python – macOS / Linux</vt:lpstr>
      <vt:lpstr>Recommended Tools</vt:lpstr>
      <vt:lpstr>Where Does Machine Learning Fit?</vt:lpstr>
      <vt:lpstr>From Python to Machine Learning</vt:lpstr>
      <vt:lpstr>Your Learning Journey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Nadeera Meedin</cp:lastModifiedBy>
  <cp:revision>5</cp:revision>
  <dcterms:created xsi:type="dcterms:W3CDTF">2013-01-27T09:14:16Z</dcterms:created>
  <dcterms:modified xsi:type="dcterms:W3CDTF">2026-01-31T08:40:31Z</dcterms:modified>
  <cp:category/>
</cp:coreProperties>
</file>